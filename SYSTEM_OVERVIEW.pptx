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1155680" cy="1417320"/>
          </a:xfrm>
          <a:prstGeom prst="roundRect">
            <a:avLst/>
          </a:prstGeom>
          <a:solidFill>
            <a:srgbClr val="1E40AF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2800" b="1">
                <a:solidFill>
                  <a:srgbClr val="F8FAFC"/>
                </a:solidFill>
                <a:latin typeface="Meiryo"/>
              </a:defRPr>
            </a:pPr>
            <a:r>
              <a:t>Meeting Minutes / OccupancyCounter</a:t>
            </a:r>
          </a:p>
          <a:p>
            <a:pPr>
              <a:defRPr sz="1700">
                <a:solidFill>
                  <a:srgbClr val="CBD5E1"/>
                </a:solidFill>
                <a:latin typeface="Meiryo"/>
              </a:defRPr>
            </a:pPr>
            <a:r>
              <a:t>システム概要資料（PowerPoint版）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CBD5E1"/>
                </a:solidFill>
                <a:latin typeface="Meiryo"/>
              </a:defRPr>
            </a:pPr>
            <a:r>
              <a:t>Android録音・人数カウント、GitHub Pages表示、Azure Speech、Claude、Microsoft Graphを組み合わせた会議室・議事録支援システム</a:t>
            </a:r>
          </a:p>
          <a:p>
            <a:pPr>
              <a:spcAft>
                <a:spcPts val="500"/>
              </a:spcAft>
              <a:defRPr sz="1500">
                <a:solidFill>
                  <a:srgbClr val="CBD5E1"/>
                </a:solidFill>
                <a:latin typeface="Meiryo"/>
              </a:defRPr>
            </a:pPr>
            <a:r>
              <a:t>生成日時: 2026-05-14 02:29:26 / 対象: C:\PRJ2\dev2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749039"/>
            <a:ext cx="3246120" cy="1325880"/>
          </a:xfrm>
          <a:prstGeom prst="roundRect">
            <a:avLst/>
          </a:prstGeom>
          <a:solidFill>
            <a:srgbClr val="101827"/>
          </a:solidFill>
          <a:ln w="1587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500" b="1">
                <a:solidFill>
                  <a:srgbClr val="F8FAFC"/>
                </a:solidFill>
                <a:latin typeface="Meiryo"/>
              </a:defRPr>
            </a:pPr>
            <a:r>
              <a:t>主要ファイル</a:t>
            </a:r>
          </a:p>
          <a:p>
            <a:pPr>
              <a:defRPr sz="2800">
                <a:solidFill>
                  <a:srgbClr val="CBD5E1"/>
                </a:solidFill>
                <a:latin typeface="Meiryo"/>
              </a:defRPr>
            </a:pPr>
            <a:r>
              <a:t>94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59" y="3749039"/>
            <a:ext cx="3246120" cy="1325880"/>
          </a:xfrm>
          <a:prstGeom prst="roundRect">
            <a:avLst/>
          </a:prstGeom>
          <a:solidFill>
            <a:srgbClr val="101827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500" b="1">
                <a:solidFill>
                  <a:srgbClr val="F8FAFC"/>
                </a:solidFill>
                <a:latin typeface="Meiryo"/>
              </a:defRPr>
            </a:pPr>
            <a:r>
              <a:t>合計行数</a:t>
            </a:r>
          </a:p>
          <a:p>
            <a:pPr>
              <a:defRPr sz="2800">
                <a:solidFill>
                  <a:srgbClr val="CBD5E1"/>
                </a:solidFill>
                <a:latin typeface="Meiryo"/>
              </a:defRPr>
            </a:pPr>
            <a:r>
              <a:t>14690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3749039"/>
            <a:ext cx="3246120" cy="1325880"/>
          </a:xfrm>
          <a:prstGeom prst="roundRect">
            <a:avLst/>
          </a:prstGeom>
          <a:solidFill>
            <a:srgbClr val="101827"/>
          </a:solidFill>
          <a:ln w="1587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500" b="1">
                <a:solidFill>
                  <a:srgbClr val="F8FAFC"/>
                </a:solidFill>
                <a:latin typeface="Meiryo"/>
              </a:defRPr>
            </a:pPr>
            <a:r>
              <a:t>主要サブシステム</a:t>
            </a:r>
          </a:p>
          <a:p>
            <a:pPr>
              <a:defRPr sz="2800">
                <a:solidFill>
                  <a:srgbClr val="CBD5E1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eiryo"/>
              </a:defRPr>
            </a:pPr>
            <a:r>
              <a:t>1. このシステムで実現すること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CBD5E1"/>
                </a:solidFill>
                <a:latin typeface="Meiryo"/>
              </a:defRPr>
            </a:pPr>
            <a:r>
              <a:t>WEB/クラウドに詳しくないエンジニア向けの説明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3291840" cy="1097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Android端末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会議室に置く「センサー + 録音機」</a:t>
            </a:r>
            <a:br/>
            <a:r>
              <a:t>人数と音声を送信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15087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143000"/>
            <a:ext cx="3291840" cy="1097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TestDashboard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PC上の「処理係」</a:t>
            </a:r>
            <a:br/>
            <a:r>
              <a:t>API受信・ジョブ管理・議事録生成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15087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143000"/>
            <a:ext cx="3063240" cy="1097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外部AI/クラウド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Azure Speech: 文字起こし</a:t>
            </a:r>
            <a:br/>
            <a:r>
              <a:t>Claude: 議事録化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3291840" cy="1097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GitHub Pages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見るための掲示板</a:t>
            </a:r>
            <a:br/>
            <a:r>
              <a:t>人数・議事録件数を表示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33375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Meiryo"/>
              </a:defRPr>
            </a:pPr>
            <a:r>
              <a:t>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971800"/>
            <a:ext cx="3291840" cy="1097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Cloudflare Tunnel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ローカルPCを一時URLで公開</a:t>
            </a:r>
            <a:br/>
            <a:r>
              <a:t>デモ用の接続口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3375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Meiryo"/>
              </a:defRPr>
            </a:pPr>
            <a:r>
              <a:t>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971800"/>
            <a:ext cx="3063240" cy="1097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TestDashboard API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/api/state</a:t>
            </a:r>
            <a:br/>
            <a:r>
              <a:t>/api/jobs</a:t>
            </a:r>
            <a:br/>
            <a:r>
              <a:t>/api/minutes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54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Meiryo"/>
              </a:defRPr>
            </a:pPr>
            <a:r>
              <a:t>確認済み: 実Azure Speech + 実Claudeで「録音 → 文字起こし → Markdown/DOCX生成」まで成功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Meiryo"/>
              </a:defRPr>
            </a:pPr>
            <a:r>
              <a:t>確認済み: GitHub Pagesの議事録バッジ表示をCloudflare Tunnel経由で確認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Meiryo"/>
              </a:defRPr>
            </a:pPr>
            <a:r>
              <a:t>残り: Microsoft Graphの管理者承認とAzure Functions本番デプロイ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eiryo"/>
              </a:defRPr>
            </a:pPr>
            <a:r>
              <a:t>2. システム全体構成図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CBD5E1"/>
                </a:solidFill>
                <a:latin typeface="Meiryo"/>
              </a:defRPr>
            </a:pPr>
            <a:r>
              <a:t>各部品の関係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1874519" cy="13258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Android端末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人数カウント</a:t>
            </a:r>
            <a:br/>
            <a:r>
              <a:t>会議音声録音</a:t>
            </a:r>
            <a:br/>
            <a:r>
              <a:t>再送ジョブ保存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188720"/>
            <a:ext cx="1874519" cy="13258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TestDashboard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Express API</a:t>
            </a:r>
            <a:br/>
            <a:r>
              <a:t>録音受信</a:t>
            </a:r>
            <a:br/>
            <a:r>
              <a:t>ジョブ管理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188720"/>
            <a:ext cx="1874519" cy="13258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Azure Speech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音声を文字起こし</a:t>
            </a:r>
            <a:br/>
            <a:r>
              <a:t>話者分離の土台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188720"/>
            <a:ext cx="1874519" cy="13258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Claude API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文字起こしから</a:t>
            </a:r>
            <a:br/>
            <a:r>
              <a:t>議事録Markdown作成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1188720"/>
            <a:ext cx="1874519" cy="13258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成果物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Markdown</a:t>
            </a:r>
            <a:br/>
            <a:r>
              <a:t>DOCX</a:t>
            </a:r>
            <a:br/>
            <a:r>
              <a:t>ダッシュボード表示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6459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6459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6459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256032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GitHub Pages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公開ダッシュボード</a:t>
            </a:r>
            <a:br/>
            <a:r>
              <a:t>ブラウザで閲覧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00507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Meiryo"/>
              </a:defRPr>
            </a:pPr>
            <a:r>
              <a:t>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3657600"/>
            <a:ext cx="256032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Cloudflare Tunnel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ローカルPCを</a:t>
            </a:r>
            <a:br/>
            <a:r>
              <a:t>一時URLで公開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00507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Meiryo"/>
              </a:defRPr>
            </a:pPr>
            <a:r>
              <a:t>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3657600"/>
            <a:ext cx="256032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TestDashboard API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/api/state</a:t>
            </a:r>
            <a:br/>
            <a:r>
              <a:t>/api/jobs</a:t>
            </a:r>
            <a:br/>
            <a:r>
              <a:t>/api/minutes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3657600"/>
            <a:ext cx="164592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Microsoft Graph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OneDrive</a:t>
            </a:r>
            <a:br/>
            <a:r>
              <a:t>Teams取得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eiryo"/>
              </a:defRPr>
            </a:pPr>
            <a:r>
              <a:t>3. Android録音から議事録生成まで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CBD5E1"/>
                </a:solidFill>
                <a:latin typeface="Meiryo"/>
              </a:defRPr>
            </a:pPr>
            <a:r>
              <a:t>通常デモで見せる中心フロー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2971800" cy="12344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1. 録音・人数検知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Androidが会議音声と人数を取得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6472" y="15544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143000"/>
            <a:ext cx="2971800" cy="12344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2. アップロード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job_id付きで /ingest/recording へ送信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71232" y="15544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43000"/>
            <a:ext cx="2971800" cy="12344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3. ジョブ化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TestDashboardが受信し、重複送信は既存ジョブ扱い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8960"/>
            <a:ext cx="2971800" cy="12344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4. 文字起こし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Azure Speechが音声から発話セグメントを作成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35204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108960"/>
            <a:ext cx="2971800" cy="12344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5. 議事録化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Claudeが要約・決定事項・アクションをMarkdown化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2" y="35204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108960"/>
            <a:ext cx="2971800" cy="12344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6. 保存・表示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DOCX/Markdownを保存し、Pagesで件数表示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eiryo"/>
              </a:defRPr>
            </a:pPr>
            <a:r>
              <a:t>4. Teams transcript統合と話者識別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CBD5E1"/>
                </a:solidFill>
                <a:latin typeface="Meiryo"/>
              </a:defRPr>
            </a:pPr>
            <a:r>
              <a:t>会議室マイクで話者が同一になりやすい問題への対策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2926080" cy="11430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Teams transcript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同じ会議室マイクでは</a:t>
            </a:r>
            <a:br/>
            <a:r>
              <a:t>Speakerが同一になりやすい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71800"/>
            <a:ext cx="2926080" cy="11430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Android/会議室録音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別経路の録音</a:t>
            </a:r>
            <a:br/>
            <a:r>
              <a:t>話者profile照合の材料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21488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Meiryo"/>
              </a:defRPr>
            </a:pPr>
            <a:r>
              <a:t>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57400"/>
            <a:ext cx="3017520" cy="13258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Transcript Merger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時刻 + テキスト類似度で重複排除</a:t>
            </a:r>
            <a:br/>
            <a:r>
              <a:t>具体的な話者名を優先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514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057400"/>
            <a:ext cx="3063240" cy="13258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統合議事録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Teams/会議室録音を</a:t>
            </a:r>
            <a:br/>
            <a:r>
              <a:t>1本の時系列として要約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Meiryo"/>
              </a:defRPr>
            </a:pPr>
            <a:r>
              <a:t>実装済み: TestDashboard/services/transcript-merger.js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Meiryo"/>
              </a:defRPr>
            </a:pPr>
            <a:r>
              <a:t>実装済み: queue-consumer → job-processor → transcript merge の配線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Meiryo"/>
              </a:defRPr>
            </a:pPr>
            <a:r>
              <a:t>今後: 実Teams録画取得とSpeaker Recognition profile照合の運用データ検証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eiryo"/>
              </a:defRPr>
            </a:pPr>
            <a:r>
              <a:t>5. Teams webhook本番開通後の流れ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CBD5E1"/>
                </a:solidFill>
                <a:latin typeface="Meiryo"/>
              </a:defRPr>
            </a:pPr>
            <a:r>
              <a:t>admin consentとFunctionsデプロイ後に有効化する自動化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60120"/>
            <a:ext cx="2286000" cy="65836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00" b="1">
                <a:solidFill>
                  <a:srgbClr val="F8FAFC"/>
                </a:solidFill>
                <a:latin typeface="Meiryo"/>
              </a:defRPr>
            </a:pPr>
            <a:r>
              <a:t>Microsoft Teams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960120"/>
            <a:ext cx="7680960" cy="658368"/>
          </a:xfrm>
          <a:prstGeom prst="roundRect">
            <a:avLst/>
          </a:prstGeom>
          <a:solidFill>
            <a:srgbClr val="0D1628"/>
          </a:solidFill>
          <a:ln w="1587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00" b="1">
                <a:solidFill>
                  <a:srgbClr val="F8FAFC"/>
                </a:solidFill>
                <a:latin typeface="Meiryo"/>
              </a:defRPr>
            </a:pPr>
            <a:r>
              <a:t>会議終了後にtranscript/録画を生成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286000" cy="65836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00" b="1">
                <a:solidFill>
                  <a:srgbClr val="F8FAFC"/>
                </a:solidFill>
                <a:latin typeface="Meiryo"/>
              </a:defRPr>
            </a:pPr>
            <a:r>
              <a:t>Graph Webhook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920240"/>
            <a:ext cx="7680960" cy="658368"/>
          </a:xfrm>
          <a:prstGeom prst="roundRect">
            <a:avLst/>
          </a:prstGeom>
          <a:solidFill>
            <a:srgbClr val="0D1628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00" b="1">
                <a:solidFill>
                  <a:srgbClr val="F8FAFC"/>
                </a:solidFill>
                <a:latin typeface="Meiryo"/>
              </a:defRPr>
            </a:pPr>
            <a:r>
              <a:t>新しいtranscript通知をAzure Functionsへ送信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2286000" cy="65836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00" b="1">
                <a:solidFill>
                  <a:srgbClr val="F8FAFC"/>
                </a:solidFill>
                <a:latin typeface="Meiryo"/>
              </a:defRPr>
            </a:pPr>
            <a:r>
              <a:t>Azure Functions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880360"/>
            <a:ext cx="7680960" cy="658368"/>
          </a:xfrm>
          <a:prstGeom prst="roundRect">
            <a:avLst/>
          </a:prstGeom>
          <a:solidFill>
            <a:srgbClr val="0D1628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00" b="1">
                <a:solidFill>
                  <a:srgbClr val="F8FAFC"/>
                </a:solidFill>
                <a:latin typeface="Meiryo"/>
              </a:defRPr>
            </a:pPr>
            <a:r>
              <a:t>clientState検証後、Storage Queueへ投入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2286000" cy="65836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00" b="1">
                <a:solidFill>
                  <a:srgbClr val="F8FAFC"/>
                </a:solidFill>
                <a:latin typeface="Meiryo"/>
              </a:defRPr>
            </a:pPr>
            <a:r>
              <a:t>TestDashboard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840480"/>
            <a:ext cx="7680960" cy="658368"/>
          </a:xfrm>
          <a:prstGeom prst="roundRect">
            <a:avLst/>
          </a:prstGeom>
          <a:solidFill>
            <a:srgbClr val="0D1628"/>
          </a:solidFill>
          <a:ln w="1587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00" b="1">
                <a:solidFill>
                  <a:srgbClr val="F8FAFC"/>
                </a:solidFill>
                <a:latin typeface="Meiryo"/>
              </a:defRPr>
            </a:pPr>
            <a:r>
              <a:t>Queueを読み、Graphからtranscript/録画を取得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00600"/>
            <a:ext cx="2286000" cy="65836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00" b="1">
                <a:solidFill>
                  <a:srgbClr val="F8FAFC"/>
                </a:solidFill>
                <a:latin typeface="Meiryo"/>
              </a:defRPr>
            </a:pPr>
            <a:r>
              <a:t>議事録生成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800600"/>
            <a:ext cx="7680960" cy="658368"/>
          </a:xfrm>
          <a:prstGeom prst="roundRect">
            <a:avLst/>
          </a:prstGeom>
          <a:solidFill>
            <a:srgbClr val="0D1628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00" b="1">
                <a:solidFill>
                  <a:srgbClr val="F8FAFC"/>
                </a:solidFill>
                <a:latin typeface="Meiryo"/>
              </a:defRPr>
            </a:pPr>
            <a:r>
              <a:t>話者識別・マージ・Claude要約・DOCX生成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97880"/>
            <a:ext cx="10287000" cy="411480"/>
          </a:xfrm>
          <a:prstGeom prst="roundRect">
            <a:avLst/>
          </a:prstGeom>
          <a:solidFill>
            <a:srgbClr val="241A06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100" b="1">
                <a:solidFill>
                  <a:srgbClr val="F8FAFC"/>
                </a:solidFill>
                <a:latin typeface="Meiryo"/>
              </a:defRPr>
            </a:pPr>
            <a:r>
              <a:t>注意</a:t>
            </a:r>
          </a:p>
          <a:p>
            <a:pPr>
              <a:defRPr sz="1000">
                <a:solidFill>
                  <a:srgbClr val="CBD5E1"/>
                </a:solidFill>
                <a:latin typeface="Meiryo"/>
              </a:defRPr>
            </a:pPr>
            <a:r>
              <a:t>この流れはコード実装済み。本番E2EにはGraph admin consentとAzure Functions quota/provider解消が必要。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eiryo"/>
              </a:defRPr>
            </a:pPr>
            <a:r>
              <a:t>6. 主要コンポーネント一覧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CBD5E1"/>
                </a:solidFill>
                <a:latin typeface="Meiryo"/>
              </a:defRPr>
            </a:pPr>
            <a:r>
              <a:t>役割と現状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0584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840480"/>
                <a:gridCol w="5029200"/>
              </a:tblGrid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領域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状態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Androidアプリ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人数検知・録音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実装済み / 再送あり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API・議事録生成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実Azure Speech/ClaudeでE2E成功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公開ダッシュボード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議事録バッジ表示確認済み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Speech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音声→文字起こし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実E2E成功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Claude API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議事録Markdown生成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実E2E成功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Microsoft Graph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OneDrive/Teams取得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Token OK / admin consent待ち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Functions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Teams webhook受信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ローカルテスト済み / 本番未デプロイ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eiryo"/>
              </a:defRPr>
            </a:pPr>
            <a:r>
              <a:t>7. プログラム・ドキュメント行数サマリ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CBD5E1"/>
                </a:solidFill>
                <a:latin typeface="Meiryo"/>
              </a:defRPr>
            </a:pPr>
            <a:r>
              <a:t>生成物や依存ライブラリは除外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097280"/>
          <a:ext cx="5486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097280"/>
                <a:gridCol w="1280160"/>
              </a:tblGrid>
              <a:tr h="57476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コンポーネント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ファイル数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行数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3145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Functions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236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IaC/運用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2074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3730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5505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14690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29400" y="1143000"/>
            <a:ext cx="2103120" cy="384048"/>
          </a:xfrm>
          <a:prstGeom prst="roundRect">
            <a:avLst/>
          </a:prstGeom>
          <a:solidFill>
            <a:srgbClr val="0C1220"/>
          </a:solidFill>
          <a:ln w="1587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850" b="1">
                <a:solidFill>
                  <a:srgbClr val="F8FAFC"/>
                </a:solidFill>
                <a:latin typeface="Meiryo"/>
              </a:defRPr>
            </a:pPr>
            <a:r>
              <a:t>Android/GitHub Pages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15400" y="1188720"/>
            <a:ext cx="1436588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112471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CBD5E1"/>
                </a:solidFill>
                <a:latin typeface="Meiryo"/>
              </a:defRPr>
            </a:pPr>
            <a:r>
              <a:t>3145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828800"/>
            <a:ext cx="2103120" cy="384048"/>
          </a:xfrm>
          <a:prstGeom prst="roundRect">
            <a:avLst/>
          </a:prstGeom>
          <a:solidFill>
            <a:srgbClr val="0C1220"/>
          </a:solidFill>
          <a:ln w="1587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850" b="1">
                <a:solidFill>
                  <a:srgbClr val="F8FAFC"/>
                </a:solidFill>
                <a:latin typeface="Meiryo"/>
              </a:defRPr>
            </a:pPr>
            <a:r>
              <a:t>Azure Functions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15400" y="1874519"/>
            <a:ext cx="107801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181051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CBD5E1"/>
                </a:solidFill>
                <a:latin typeface="Meiryo"/>
              </a:defRPr>
            </a:pPr>
            <a:r>
              <a:t>236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514600"/>
            <a:ext cx="2103120" cy="384048"/>
          </a:xfrm>
          <a:prstGeom prst="roundRect">
            <a:avLst/>
          </a:prstGeom>
          <a:solidFill>
            <a:srgbClr val="0C1220"/>
          </a:solidFill>
          <a:ln w="1587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850" b="1">
                <a:solidFill>
                  <a:srgbClr val="F8FAFC"/>
                </a:solidFill>
                <a:latin typeface="Meiryo"/>
              </a:defRPr>
            </a:pPr>
            <a:r>
              <a:t>Azure IaC/運用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2560320"/>
            <a:ext cx="947371" cy="25603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75720" y="249631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CBD5E1"/>
                </a:solidFill>
                <a:latin typeface="Meiryo"/>
              </a:defRPr>
            </a:pPr>
            <a:r>
              <a:t>2074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3200400"/>
            <a:ext cx="2103120" cy="384048"/>
          </a:xfrm>
          <a:prstGeom prst="roundRect">
            <a:avLst/>
          </a:prstGeom>
          <a:solidFill>
            <a:srgbClr val="0C1220"/>
          </a:solidFill>
          <a:ln w="1587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850" b="1">
                <a:solidFill>
                  <a:srgbClr val="F8FAFC"/>
                </a:solidFill>
                <a:latin typeface="Meiryo"/>
              </a:defRPr>
            </a:pPr>
            <a:r>
              <a:t>Root docs/config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3246120"/>
            <a:ext cx="1703807" cy="2560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75720" y="318211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CBD5E1"/>
                </a:solidFill>
                <a:latin typeface="Meiryo"/>
              </a:defRPr>
            </a:pPr>
            <a:r>
              <a:t>3730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3886200"/>
            <a:ext cx="2103120" cy="384048"/>
          </a:xfrm>
          <a:prstGeom prst="roundRect">
            <a:avLst/>
          </a:prstGeom>
          <a:solidFill>
            <a:srgbClr val="0C1220"/>
          </a:solidFill>
          <a:ln w="1587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850" b="1">
                <a:solidFill>
                  <a:srgbClr val="F8FAFC"/>
                </a:solidFill>
                <a:latin typeface="Meiryo"/>
              </a:defRPr>
            </a:pPr>
            <a:r>
              <a:t>TestDashboard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3931920"/>
            <a:ext cx="2514600" cy="2560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75720" y="386791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CBD5E1"/>
                </a:solidFill>
                <a:latin typeface="Meiryo"/>
              </a:defRPr>
            </a:pPr>
            <a:r>
              <a:t>5505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eiryo"/>
              </a:defRPr>
            </a:pPr>
            <a:r>
              <a:t>8. 行数が多い主要ファイル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CBD5E1"/>
                </a:solidFill>
                <a:latin typeface="Meiryo"/>
              </a:defRPr>
            </a:pPr>
            <a:r>
              <a:t>保守・レビュー時に優先的に把握するファイル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1129284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412480"/>
                <a:gridCol w="914400"/>
              </a:tblGrid>
              <a:tr h="34004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領域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行数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MeetingMinutes_PLAN.md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2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971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TestDashboard\public\dashboard.js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2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610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IaC/運用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infra\bicep\main.json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2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578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MeetingMinutes_Subscription_Lifecycle.md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2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514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TestDashboard\services\job-processor.js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2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497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MeetingMinutes_Speaker_Identification.md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2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488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OccupancyCounter\docs\dashboard.js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2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487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VERIFICATION_PLAN.md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2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465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TestDashboard\server.js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2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424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TestDashboard\public\style.css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2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358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TestDashboard\README.md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2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353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OccupancyCounter\docs\style.css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2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351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TestDashboard\services\graph.js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2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329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MeetingMinutes_LocalDev_Setup.md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2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322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OccupancyCounter\app\src\main\java\com\example\occupancycounter\meeting\MeetingActivity.kt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2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286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eiryo"/>
              </a:defRPr>
            </a:pPr>
            <a:r>
              <a:t>9. 現時点の検証結果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CBD5E1"/>
                </a:solidFill>
                <a:latin typeface="Meiryo"/>
              </a:defRPr>
            </a:pPr>
            <a:r>
              <a:t>admin consent不要範囲の実績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7472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W8 実モードE2E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Azure Speech成功 / Claude成功</a:t>
            </a:r>
            <a:br/>
            <a:r>
              <a:t>Markdown・DOCX生成成功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097280"/>
            <a:ext cx="347472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GitHub Pages実表示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/api/jobs到達OK</a:t>
            </a:r>
            <a:br/>
            <a:r>
              <a:t>議事録バッジ件数表示OK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97280"/>
            <a:ext cx="310896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Graph token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client credentials token取得OK</a:t>
            </a:r>
            <a:br/>
            <a:r>
              <a:t>実保存は承認待ち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Meiryo"/>
              </a:defRPr>
            </a:pPr>
            <a:r>
              <a:t>実行ジョブ: w8-real-20260514-003505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Meiryo"/>
              </a:defRPr>
            </a:pPr>
            <a:r>
              <a:t>Transcript: 4 segments / Speaker count: 4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Meiryo"/>
              </a:defRPr>
            </a:pPr>
            <a:r>
              <a:t>生成物: storage/minutes-md/w8-real-20260514-003505.md / storage/minutes/w8-real-20260514-003505.docx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Meiryo"/>
              </a:defRPr>
            </a:pPr>
            <a:r>
              <a:t>OneDrive uploadのみHTTP 401。ジョブ全体はcompleted。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eiryo"/>
              </a:defRPr>
            </a:pPr>
            <a:r>
              <a:t>10. 残ブロッカー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CBD5E1"/>
                </a:solidFill>
                <a:latin typeface="Meiryo"/>
              </a:defRPr>
            </a:pPr>
            <a:r>
              <a:t>本番運用に向けて外部権限・Azure制限の解消が必要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10881360" cy="1051560"/>
          </a:xfrm>
          <a:prstGeom prst="roundRect">
            <a:avLst/>
          </a:prstGeom>
          <a:solidFill>
            <a:srgbClr val="2A1111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400" b="1">
                <a:solidFill>
                  <a:srgbClr val="F8FAFC"/>
                </a:solidFill>
                <a:latin typeface="Meiryo"/>
              </a:defRPr>
            </a:pPr>
            <a:r>
              <a:t>1. Microsoft Graph admin consent 未完了</a:t>
            </a:r>
          </a:p>
          <a:p>
            <a:pPr>
              <a:defRPr sz="1100">
                <a:solidFill>
                  <a:srgbClr val="CBD5E1"/>
                </a:solidFill>
                <a:latin typeface="Meiryo"/>
              </a:defRPr>
            </a:pPr>
            <a:r>
              <a:t>Graph tokenは取得可能。ただしOneDrive uploadはHTTP 401。Files.ReadWrite.All等のApplication permissionに管理者承認が必要。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14600"/>
            <a:ext cx="10881360" cy="1051560"/>
          </a:xfrm>
          <a:prstGeom prst="roundRect">
            <a:avLst/>
          </a:prstGeom>
          <a:solidFill>
            <a:srgbClr val="2A1111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400" b="1">
                <a:solidFill>
                  <a:srgbClr val="F8FAFC"/>
                </a:solidFill>
                <a:latin typeface="Meiryo"/>
              </a:defRPr>
            </a:pPr>
            <a:r>
              <a:t>2. Azure Functions 本番デプロイ未完了</a:t>
            </a:r>
          </a:p>
          <a:p>
            <a:pPr>
              <a:defRPr sz="1100">
                <a:solidFill>
                  <a:srgbClr val="CBD5E1"/>
                </a:solidFill>
                <a:latin typeface="Meiryo"/>
              </a:defRPr>
            </a:pPr>
            <a:r>
              <a:t>Function App作成はサブスクリプションのDynamic VM quota/provider登録状況に依存。Speech/Storageは先行稼働済み。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77639"/>
            <a:ext cx="10881360" cy="1051560"/>
          </a:xfrm>
          <a:prstGeom prst="roundRect">
            <a:avLst/>
          </a:prstGeom>
          <a:solidFill>
            <a:srgbClr val="241A06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400" b="1">
                <a:solidFill>
                  <a:srgbClr val="F8FAFC"/>
                </a:solidFill>
                <a:latin typeface="Meiryo"/>
              </a:defRPr>
            </a:pPr>
            <a:r>
              <a:t>3. Teams webhook E2E 未完了</a:t>
            </a:r>
          </a:p>
          <a:p>
            <a:pPr>
              <a:defRPr sz="1100">
                <a:solidFill>
                  <a:srgbClr val="CBD5E1"/>
                </a:solidFill>
                <a:latin typeface="Meiryo"/>
              </a:defRPr>
            </a:pPr>
            <a:r>
              <a:t>admin consent + Functionsデプロイ後に、Teams会議→Graph通知→Queue→TestDashboard→議事録生成の通し確認が必要。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eiryo"/>
              </a:defRPr>
            </a:pPr>
            <a:r>
              <a:t>11. 今後の展望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CBD5E1"/>
                </a:solidFill>
                <a:latin typeface="Meiryo"/>
              </a:defRPr>
            </a:pPr>
            <a:r>
              <a:t>デモ安定化から本番自動化へ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507492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短期: デモ安定化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Android録音、GitHub Pagesバッジ、実Azure Speech/Claudeの動線を固定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51560"/>
            <a:ext cx="507492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短期: Graph権限完了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管理者承認後、OneDrive保存とTeams transcript/録画取得を実APIで検証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60320"/>
            <a:ext cx="507492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中期: Teams完全自動化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Azure Functions + Graph subscriptionで会議終了後に自動議事録生成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60320"/>
            <a:ext cx="507492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中期: 話者識別精度向上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話者profile登録、音声区間切り出し、Speaker Recognition照合を運用データで調整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069079"/>
            <a:ext cx="507492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運用: セキュリティ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APIキー/Storage接続文字列をKey Vaultへ移行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69079"/>
            <a:ext cx="507492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8FAFC"/>
                </a:solidFill>
                <a:latin typeface="Meiryo"/>
              </a:defRPr>
            </a:pPr>
            <a:r>
              <a:t>運用: 監視</a:t>
            </a:r>
          </a:p>
          <a:p>
            <a:pPr>
              <a:defRPr sz="950">
                <a:solidFill>
                  <a:srgbClr val="CBD5E1"/>
                </a:solidFill>
                <a:latin typeface="Meiryo"/>
              </a:defRPr>
            </a:pPr>
            <a:r>
              <a:t>Application Insights/Log Analyticsで失敗率・処理時間を可視化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eiryo"/>
              </a:defRPr>
            </a:pPr>
            <a:r>
              <a:t>Appendix. ファイル別行数一覧 1-18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CBD5E1"/>
                </a:solidFill>
                <a:latin typeface="Meiryo"/>
              </a:defRPr>
            </a:pPr>
            <a:r>
              <a:t>全主要ファイル一覧（生成物・依存ライブラリ除外）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868680"/>
          <a:ext cx="11384279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5303520"/>
                <a:gridCol w="3520440"/>
                <a:gridCol w="685800"/>
              </a:tblGrid>
              <a:tr h="291164"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領域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行数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OccupancyCounter\README.md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設計・手順・検証ドキュメント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175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OccupancyCounter\app\src\main\AndroidManifest.xml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Androidレイアウト/設定XML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OccupancyCounter\app\src\main\java\com\example\occupancycounter\AppPrefs.kt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 Kotlin実装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OccupancyCounter\app\src\main\java\com\example\occupancycounter\FaceAnalyzer.kt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 Kotlin実装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OccupancyCounter\app\src\main\java\com\example\occupancycounter\MainActivity.kt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 Kotlin実装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168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OccupancyCounter\app\src\main\java\com\example\occupancycounter\ServerClient.kt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 Kotlin実装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OccupancyCounter\app\src\main\java\com\example\occupancycounter\SettingsActivity.kt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 Kotlin実装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OccupancyCounter\app\src\main\java\com\example\occupancycounter\meeting\JobStore.kt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Android側ジョブ状態をローカルJSONで永続化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265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OccupancyCounter\app\src\main\java\com\example\occupancycounter\meeting\MeetingActivity.kt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Android録音画面。録音、アップロード、リトライUIを制御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286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OccupancyCounter\app\src\main\java\com\example\occupancycounter\meeting\MeetingRecorder.kt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 Kotlin実装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151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OccupancyCounter\app\src\main\java\com\example\occupancycounter\meeting\RecordingUploader.kt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録音ファイルをmultipartでTestDashboardへ送信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OccupancyCounter\app\src\main\res\drawable\ic_launcher_background.xml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Androidレイアウト/設定XML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OccupancyCounter\app\src\main\res\drawable\ic_launcher_foreground.xml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Androidレイアウト/設定XML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OccupancyCounter\app\src\main\res\layout\activity_main.xml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Androidレイアウト/設定XML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OccupancyCounter\app\src\main\res\layout\activity_meeting.xml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Androidレイアウト/設定XML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OccupancyCounter\app\src\main\res\layout\activity_settings.xml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Androidレイアウト/設定XML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OccupancyCounter\app\src\main\res\mipmap-anydpi-v26\ic_launcher.xml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Androidレイアウト/設定XML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8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OccupancyCounter\app\src\main\res\mipmap-anydpi-v26\ic_launcher_round.xml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Androidレイアウト/設定XML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eiryo"/>
              </a:defRPr>
            </a:pPr>
            <a:r>
              <a:t>Appendix. ファイル別行数一覧 19-36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CBD5E1"/>
                </a:solidFill>
                <a:latin typeface="Meiryo"/>
              </a:defRPr>
            </a:pPr>
            <a:r>
              <a:t>全主要ファイル一覧（生成物・依存ライブラリ除外）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868680"/>
          <a:ext cx="11384279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5303520"/>
                <a:gridCol w="3520440"/>
                <a:gridCol w="685800"/>
              </a:tblGrid>
              <a:tr h="291164"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領域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行数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OccupancyCounter\app\src\main\res\values-ja\strings.xml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Androidレイアウト/設定XML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OccupancyCounter\app\src\main\res\values\arrays.xml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Androidレイアウト/設定XML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OccupancyCounter\app\src\main\res\values\colors.xml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Androidレイアウト/設定XML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OccupancyCounter\app\src\main\res\values\strings.xml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Androidレイアウト/設定XML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OccupancyCounter\app\src\main\res\values\themes.xml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Androidレイアウト/設定XML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OccupancyCounter\app\src\main\res\xml\backup_rules.xml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Androidレイアウト/設定XML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OccupancyCounter\app\src\main\res\xml\preferences.xml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Androidレイアウト/設定XML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OccupancyCounter\app\src\test\java\com\example\occupancycounter\AppPrefsTest.kt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自動テスト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OccupancyCounter\docs\README.md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設計・手順・検証ドキュメント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143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OccupancyCounter\docs\config.js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JavaScript実装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OccupancyCounter\docs\dashboard.js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GitHub Pages公開ダッシュボード。人数、議事録バッジ、モー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487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OccupancyCounter\docs\index.html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GitHub Pagesの画面骨格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135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Android/GitHub Pages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OccupancyCounter\docs\style.css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GitHub Pagesの画面デザイン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351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Functions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functions\host.json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設定/補助ファイル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Functions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functions\local.settings.json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設定/補助ファイル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Functions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functions\notifications\function.json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設定/補助ファイル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Functions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functions\notifications\index.js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FunctionsのTeams webhook受信処理。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8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Functions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functions\package.json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設定/補助ファイル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eiryo"/>
              </a:defRPr>
            </a:pPr>
            <a:r>
              <a:t>Appendix. ファイル別行数一覧 37-54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CBD5E1"/>
                </a:solidFill>
                <a:latin typeface="Meiryo"/>
              </a:defRPr>
            </a:pPr>
            <a:r>
              <a:t>全主要ファイル一覧（生成物・依存ライブラリ除外）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868680"/>
          <a:ext cx="11384279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5303520"/>
                <a:gridCol w="3520440"/>
                <a:gridCol w="685800"/>
              </a:tblGrid>
              <a:tr h="291164"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領域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行数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Functions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functions\test\notifications.test.js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自動テスト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IaC/運用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infra\README.md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設計・手順・検証ドキュメント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IaC/運用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infra\bicep\main.bicep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Azureリソース構成のBicepエントリポイント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IaC/運用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infra\bicep\main.json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設定/補助ファイル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578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IaC/運用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infra\bicep\modules\functions.bicep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IaCモジュール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IaC/運用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infra\bicep\modules\speech.bicep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IaCモジュール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IaC/運用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infra\bicep\modules\storage.bicep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IaCモジュール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IaC/運用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infra\bicep\parameters.local.json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設定/補助ファイル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IaC/運用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infra\check-environment.ps1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運用/検証用PowerShellスクリプト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170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IaC/運用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infra\check-result.json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設定/補助ファイル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IaC/運用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infra\deploy-azure.ps1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Speech/Storage/Functions任意デプ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214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IaC/運用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infra\install-tools.ps1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運用/検証用PowerShellスクリプト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IaC/運用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infra\serena\claude_desktop_config.json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設定/補助ファイル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IaC/運用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infra\serena\install-serena-config.ps1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運用/検証用PowerShellスクリプト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146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IaC/運用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infra\setup-graph-app.ps1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Entraアプリ登録、Graph権限、client secret、c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216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IaC/運用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infra\start-local-dev.ps1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運用/検証用PowerShellスクリプト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162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Claude_AI開発推進手順.md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設計・手順・検証ドキュメント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196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8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MeetingMinutes_LocalDev_Setup.md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設計・手順・検証ドキュメント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322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eiryo"/>
              </a:defRPr>
            </a:pPr>
            <a:r>
              <a:t>Appendix. ファイル別行数一覧 55-72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CBD5E1"/>
                </a:solidFill>
                <a:latin typeface="Meiryo"/>
              </a:defRPr>
            </a:pPr>
            <a:r>
              <a:t>全主要ファイル一覧（生成物・依存ライブラリ除外）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868680"/>
          <a:ext cx="11384279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5303520"/>
                <a:gridCol w="3520440"/>
                <a:gridCol w="685800"/>
              </a:tblGrid>
              <a:tr h="291164"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領域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行数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MeetingMinutes_PLAN.md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設計・手順・検証ドキュメント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971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MeetingMinutes_Speaker_Identification.md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設計・手順・検証ドキュメント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488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MeetingMinutes_Subscription_Lifecycle.md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設計・手順・検証ドキュメント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514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README.md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設計・手順・検証ドキュメント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114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Serena_Setup.md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設計・手順・検証ドキュメント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164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VALIDATION_REPORT.md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設計・手順・検証ドキュメント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217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VERIFICATION_PLAN.md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手動/自動検証計画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465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scripts\rotate-azurite-log.ps1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運用/検証用PowerShellスクリプト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scripts\run-smoke-test.ps1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運用/検証用PowerShellスクリプト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181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Root docs/config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start-dev.ps1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運用/検証用PowerShellスクリプト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TestDashboard\README.md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設計・手順・検証ドキュメント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353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TestDashboard\package.json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設定/補助ファイル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TestDashboard\prompts\meeting-minutes-ja.md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設計・手順・検証ドキュメント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TestDashboard\public\dashboard.js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JavaScript実装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610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TestDashboard\public\index.html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HTML画面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189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TestDashboard\public\style.css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CSSスタイル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358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TestDashboard\scripts\smoke-local.js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外部権限に依存しないローカルE2E smoke検証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151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8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TestDashboard\scripts\verify-env.js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W8用の環境変数・mock状態・Graph token事前診断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eiryo"/>
              </a:defRPr>
            </a:pPr>
            <a:r>
              <a:t>Appendix. ファイル別行数一覧 73-90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CBD5E1"/>
                </a:solidFill>
                <a:latin typeface="Meiryo"/>
              </a:defRPr>
            </a:pPr>
            <a:r>
              <a:t>全主要ファイル一覧（生成物・依存ライブラリ除外）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868680"/>
          <a:ext cx="11384279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5303520"/>
                <a:gridCol w="3520440"/>
                <a:gridCol w="685800"/>
              </a:tblGrid>
              <a:tr h="291164"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領域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行数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TestDashboard\server.js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Express APIサーバー。人数・録音・ジョブ・議事録APIを提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424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TestDashboard\services\audio-publisher.js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JavaScript実装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119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TestDashboard\services\audio-segments.js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JavaScript実装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TestDashboard\services\azure-speech.js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Azure Speech Batch Transcription連携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228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TestDashboard\services\claude.js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Claude APIで議事録Markdownを生成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207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TestDashboard\services\docx-builder.js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JavaScript実装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219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TestDashboard\services\env-loader.js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JavaScript実装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TestDashboard\services\graph.js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Microsoft GraphでOneDrive保存、Teams t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329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TestDashboard\services\job-processor.js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録音/Teams transcriptから文字起こし、要約、DOCX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497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TestDashboard\services\queue-consumer.js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JavaScript実装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TestDashboard\services\speaker-identification.js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Teams録画から音声区間を切り出し、登録済み話者profileと照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221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TestDashboard\services\speaker-inference.js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JavaScript実装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164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TestDashboard\services\speaker-profiles.js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話者プロファイルの登録・保存・一覧管理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TestDashboard\services\speaker-recognition.js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JavaScript実装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164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TestDashboard\services\transcript-merger.js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Teams transcriptとAndroid/会議室録音tran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208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TestDashboard\test\docx-builder.test.js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自動テスト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29116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TestDashboard\test\graph.test.js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自動テスト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291168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TestDashboard\test\job-processor.test.js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自動テスト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99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eiryo"/>
              </a:defRPr>
            </a:pPr>
            <a:r>
              <a:t>Appendix. ファイル別行数一覧 91-94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CBD5E1"/>
                </a:solidFill>
                <a:latin typeface="Meiryo"/>
              </a:defRPr>
            </a:pPr>
            <a:r>
              <a:t>全主要ファイル一覧（生成物・依存ライブラリ除外）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868680"/>
          <a:ext cx="11384279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5303520"/>
                <a:gridCol w="3520440"/>
                <a:gridCol w="685800"/>
              </a:tblGrid>
              <a:tr h="1106424"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領域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1">
                          <a:solidFill>
                            <a:srgbClr val="BFDBFE"/>
                          </a:solidFill>
                          <a:latin typeface="Meiryo"/>
                        </a:defRPr>
                      </a:pPr>
                      <a:r>
                        <a:t>行数</a:t>
                      </a:r>
                    </a:p>
                  </a:txBody>
                  <a:tcPr>
                    <a:solidFill>
                      <a:srgbClr val="142038"/>
                    </a:solidFill>
                  </a:tcPr>
                </a:tc>
              </a:tr>
              <a:tr h="110642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TestDashboard\test\server.test.js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自動テスト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207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110642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TestDashboard\test\speaker-identification.test.js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自動テスト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  <a:tr h="110642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TestDashboard\test\speaker-inference.test.js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自動テスト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1106424"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TestDashboard\test\transcript-merger.test.js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>
                          <a:solidFill>
                            <a:srgbClr val="F8FAFC"/>
                          </a:solidFill>
                          <a:latin typeface="Meiryo"/>
                        </a:defRPr>
                      </a:pPr>
                      <a:r>
                        <a:t>自動テスト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80">
                          <a:solidFill>
                            <a:srgbClr val="CBD5E1"/>
                          </a:solidFill>
                          <a:latin typeface="Meiryo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0E172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Meiryo"/>
              </a:defRPr>
            </a:pPr>
            <a:r>
              <a:t>C:\PRJ2\dev2  |  SYSTEM_OVERVIEW  |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